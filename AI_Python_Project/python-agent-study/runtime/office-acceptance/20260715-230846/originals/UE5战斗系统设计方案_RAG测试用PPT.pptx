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slide_id=ppt-ue5-combat-001; purpose=title; keywords=UE5,GAS,战斗系统,测试PPT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slide_id=ppt-ue5-combat-002; purpose=goals; should_extract_table_like_text=true; terms=DataAsset,DataTable,Tick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slide_id=ppt-ue5-combat-003; purpose=architecture diagram; expected_chunks=module architecture and design principles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slide_id=ppt-ue5-combat-004; purpose=data model table; extract code-like names and field identifiers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slide_id=ppt-ue5-combat-005; purpose=timeline; values=input buffer 0.15-0.25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slide_id=ppt-ue5-combat-006; purpose=hit detection and damage formula; formula=FinalDamage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slide_id=ppt-ue5-combat-007; purpose=gameplay tags; tags=State.Attacking,State.Invincible,Event.HitConfirm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slide_id=ppt-ue5-combat-008; purpose=enemy AI behavior; terms=Behavior Tree,EQS,AIPerception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slide_id=ppt-ue5-combat-009; purpose=networking; values=PktLag 80/150/250 PacketLoss 1/3 percent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slide_id=ppt-ue5-combat-010; purpose=chart-like visual and performance metrics; labels=input,ability,trace,damage,AI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slide_id=ppt-ue5-combat-011; purpose=roadmap and acceptance tests; includes UC-001..UC-005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UE5 引擎实现战斗系统的设计方案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94944" y="20299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 RAG 知识库系统解析、分块、检索与增量更新测试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2578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测试覆盖：中文文本 · 表格样式内容 · 流程图 · 架构图 · 图表样式 · 备注 · 英文术语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281160" y="914400"/>
            <a:ext cx="2057400" cy="2057400"/>
          </a:xfrm>
          <a:prstGeom prst="arc">
            <a:avLst/>
          </a:prstGeom>
          <a:noFill/>
          <a:ln w="63500">
            <a:solidFill>
              <a:srgbClr val="C55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38360" y="1353312"/>
            <a:ext cx="868680" cy="685800"/>
          </a:xfrm>
          <a:prstGeom prst="chevron">
            <a:avLst/>
          </a:prstGeom>
          <a:solidFill>
            <a:srgbClr val="2C6E73"/>
          </a:solidFill>
          <a:ln w="12700">
            <a:solidFill>
              <a:srgbClr val="2C6E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5560" y="2084832"/>
            <a:ext cx="0" cy="1481328"/>
          </a:xfrm>
          <a:prstGeom prst="line">
            <a:avLst/>
          </a:prstGeom>
          <a:noFill/>
          <a:ln w="38100">
            <a:solidFill>
              <a:srgbClr val="18242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686800" y="3858768"/>
            <a:ext cx="2743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 Ability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Animation Montage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Enhanced 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5715000"/>
            <a:ext cx="1234440" cy="256032"/>
          </a:xfrm>
          <a:prstGeom prst="rect">
            <a:avLst/>
          </a:prstGeom>
          <a:solidFill>
            <a:srgbClr val="C55A2F"/>
          </a:solidFill>
          <a:ln>
            <a:solidFill>
              <a:srgbClr val="C55A2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PPTX_PARSE_TEST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设计目标与系统边界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581912"/>
            <a:ext cx="53492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提供可扩展的近战、远程、技能、受击、硬直、处决等战斗能力。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战斗表现与战斗逻辑解耦：动画、特效、音效可替换，结算逻辑稳定。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支持单机与联机：本地手感优先，服务端权威校验关键状态。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设计数据驱动能力：角色、武器、技能、伤害系数通过 DataAsset / DataTable 配置。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暂不覆盖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1581912"/>
            <a:ext cx="48920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不在本阶段实现大型 MMORPG 级服务器架构。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不实现复杂物理破坏系统，只保留受击反馈接口。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不把所有技能写死在蓝图中，避免后续维护成本过高。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不在角色 Tick 中进行高频全量碰撞扫描。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1931213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验收项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2627986" y="4407408"/>
            <a:ext cx="5060290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699248" y="4407408"/>
            <a:ext cx="3765499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测试方法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85800" y="4729277"/>
            <a:ext cx="1931213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连招响应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627986" y="4729277"/>
            <a:ext cx="5060290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普通攻击输入缓存 0.2 秒内能正确接续下一段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699248" y="4729277"/>
            <a:ext cx="3765499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录制输入序列，检查 Montage Section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85800" y="5051146"/>
            <a:ext cx="1931213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命中结算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627986" y="5051146"/>
            <a:ext cx="5060290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同一次攻击同一目标只结算一次伤害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699248" y="5051146"/>
            <a:ext cx="3765499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启用命中日志，检查 Hit Token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85800" y="5373014"/>
            <a:ext cx="1931213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联机同步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627986" y="5373014"/>
            <a:ext cx="5060290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客户端预测不产生长时间状态漂移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699248" y="5373014"/>
            <a:ext cx="3765499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 80ms/150ms 网络模拟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战斗系统模块架构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模块拆分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874520"/>
            <a:ext cx="100584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1874520"/>
            <a:ext cx="91440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69480" y="1874520"/>
            <a:ext cx="77724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3520440"/>
            <a:ext cx="91440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3520440"/>
            <a:ext cx="77724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21240" y="2240280"/>
            <a:ext cx="0" cy="82296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1417320"/>
            <a:ext cx="1463040" cy="914400"/>
          </a:xfrm>
          <a:prstGeom prst="rect">
            <a:avLst/>
          </a:prstGeom>
          <a:solidFill>
            <a:srgbClr val="C55A2F"/>
          </a:solidFill>
          <a:ln>
            <a:solidFill>
              <a:srgbClr val="C55A2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Enhanced Input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输入采集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1417320"/>
            <a:ext cx="1554480" cy="914400"/>
          </a:xfrm>
          <a:prstGeom prst="rect">
            <a:avLst/>
          </a:prstGeom>
          <a:solidFill>
            <a:srgbClr val="182425"/>
          </a:solidFill>
          <a:ln>
            <a:solidFill>
              <a:srgbClr val="18242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Combat Component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战斗状态机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5000" y="1417320"/>
            <a:ext cx="1554480" cy="914400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Ability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技能执行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0" y="1417320"/>
            <a:ext cx="1874520" cy="914400"/>
          </a:xfrm>
          <a:prstGeom prst="rect">
            <a:avLst/>
          </a:prstGeom>
          <a:solidFill>
            <a:srgbClr val="6B5B95"/>
          </a:solidFill>
          <a:ln>
            <a:solidFill>
              <a:srgbClr val="6B5B9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Montage/Notify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3063240"/>
            <a:ext cx="1554480" cy="914400"/>
          </a:xfrm>
          <a:prstGeom prst="rect">
            <a:avLst/>
          </a:prstGeom>
          <a:solidFill>
            <a:srgbClr val="A8453A"/>
          </a:solidFill>
          <a:ln>
            <a:solidFill>
              <a:srgbClr val="A845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 Detection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碰撞窗口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3063240"/>
            <a:ext cx="1874520" cy="914400"/>
          </a:xfrm>
          <a:prstGeom prst="rect">
            <a:avLst/>
          </a:prstGeom>
          <a:solidFill>
            <a:srgbClr val="6A8A52"/>
          </a:solidFill>
          <a:ln>
            <a:solidFill>
              <a:srgbClr val="6A8A5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 Calc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伤害结算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0" y="2240280"/>
            <a:ext cx="1417320" cy="868680"/>
          </a:xfrm>
          <a:prstGeom prst="rect">
            <a:avLst/>
          </a:prstGeom>
          <a:solidFill>
            <a:srgbClr val="3A6EA5"/>
          </a:solidFill>
          <a:ln>
            <a:solidFill>
              <a:srgbClr val="3A6E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服务端权威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10424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设计原则：输入只负责表达意图，Ability 负责执行规则，动画只承担表现与窗口通知，结算必须可复现。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559552"/>
            <a:ext cx="98755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Blueprint 用于编排表现；C++ 用于核心状态、预测和结算。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GameplayTag 统一描述状态：State.Attacking、State.Stunned、Event.HitConfirm。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所有可检索配置写入资产命名规范，便于知识库索引与追踪。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数据模型与资产规范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DataAsset / DataTable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2732227" cy="43891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资产/结构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337560" y="1078992"/>
            <a:ext cx="4707331" cy="43891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关键字段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055864" y="1078992"/>
            <a:ext cx="3500323" cy="43891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94360" y="1528877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DA_WeaponProfile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337560" y="1528877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WeaponId, AttackRange, BaseDamage, HitSocket, ComboSetId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055864" y="1528877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定义武器基础属性与碰撞位置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94360" y="1978762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DA_AbilityConfig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337560" y="1978762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AbilityTag, Cooldown, Cost, Montage, EffectCue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055864" y="1978762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定义技能释放条件、消耗与表现资产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94360" y="2428646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DT_ComboChain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337560" y="2428646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ComboId, StepIndex, InputWindowStart, InputWindowEnd, NextStep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055864" y="2428646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配置连招段落和输入缓存窗口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94360" y="2878531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FHitContext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337560" y="2878531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AttackerId, TargetId, HitToken, ImpactPoint, HitNormal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055864" y="2878531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一次命中事件的可序列化上下文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3328416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FDamageSpec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337560" y="3328416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DamageType, Coefficient, PoiseDamage, ElementTag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055864" y="3328416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进入伤害公式的参数集合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858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命名规范示例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047488"/>
            <a:ext cx="4023360" cy="914400"/>
          </a:xfrm>
          <a:prstGeom prst="rect">
            <a:avLst/>
          </a:prstGeom>
          <a:solidFill>
            <a:srgbClr val="FBF6EA"/>
          </a:solidFill>
          <a:ln>
            <a:solidFill>
              <a:srgbClr val="D8CF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GA_Combat_LightAttack_Sword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GA_Combat_Dodge_Roll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DA_Weapon_Sword_Knight_001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DT_Combo_Sword_Default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4983480"/>
            <a:ext cx="5486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检索测试关键词：WeaponId、ComboSetId、HitToken、PoiseDamage。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这些字段应作为结构化词条进入索引，避免只保留自然语言。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输入缓存与连招状态流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Combo Flow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1033272"/>
            <a:ext cx="94640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输入事件不直接播放动画，而是请求 Combat Component 尝试状态迁移。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缓存窗口由当前 Montage NotifyState 开启和关闭，避免写死在输入层。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如果角色带有 State.Stunned 或 State.Dead，连招请求必须被拒绝。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73736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388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2240280"/>
            <a:ext cx="1234440" cy="1234440"/>
          </a:xfrm>
          <a:prstGeom prst="ellipse">
            <a:avLst/>
          </a:prstGeom>
          <a:solidFill>
            <a:srgbClr val="C55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Pressed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260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记录输入时间戳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15768" y="2240280"/>
            <a:ext cx="1234440" cy="12344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1810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48716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Buffer Window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4144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0.15~0.25 秒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2240280"/>
            <a:ext cx="1234440" cy="1234440"/>
          </a:xfrm>
          <a:prstGeom prst="ellipse">
            <a:avLst/>
          </a:prstGeom>
          <a:solidFill>
            <a:srgbClr val="2C6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3600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 Transition?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9028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Tag 与体力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13448" y="2240280"/>
            <a:ext cx="1234440" cy="1234440"/>
          </a:xfrm>
          <a:prstGeom prst="ellipse">
            <a:avLst/>
          </a:prstGeom>
          <a:solidFill>
            <a:srgbClr val="6B5B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1578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8484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Montage Section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3912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跳转下一段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62288" y="2240280"/>
            <a:ext cx="1234440" cy="1234440"/>
          </a:xfrm>
          <a:prstGeom prst="ellipse">
            <a:avLst/>
          </a:prstGeom>
          <a:solidFill>
            <a:srgbClr val="6A8A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6462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93368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Ability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8796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扣资源并结算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51560" y="5257800"/>
            <a:ext cx="9921240" cy="402336"/>
          </a:xfrm>
          <a:prstGeom prst="rect">
            <a:avLst/>
          </a:prstGeom>
          <a:solidFill>
            <a:srgbClr val="EFE6D5"/>
          </a:solidFill>
          <a:ln>
            <a:solidFill>
              <a:srgbClr val="D8CFC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边界用例：连续点击、提前输入、受击打断、空体力、技能冷却中、武器切换中。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命中判定与伤害结算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 &amp; Damage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965960"/>
            <a:ext cx="9601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1965960"/>
            <a:ext cx="9601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1965960"/>
            <a:ext cx="9601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97280" y="1444752"/>
            <a:ext cx="1691640" cy="1024128"/>
          </a:xfrm>
          <a:prstGeom prst="rect">
            <a:avLst/>
          </a:prstGeom>
          <a:solidFill>
            <a:srgbClr val="6B5B95"/>
          </a:solidFill>
          <a:ln>
            <a:solidFill>
              <a:srgbClr val="6B5B9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AnimNotifyState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开启攻击窗口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1444752"/>
            <a:ext cx="1691640" cy="1024128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Shape Trace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采样武器轨迹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1444752"/>
            <a:ext cx="1691640" cy="1024128"/>
          </a:xfrm>
          <a:prstGeom prst="rect">
            <a:avLst/>
          </a:prstGeom>
          <a:solidFill>
            <a:srgbClr val="C55A2F"/>
          </a:solidFill>
          <a:ln>
            <a:solidFill>
              <a:srgbClr val="C55A2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 Dedup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HitToken 去重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1444752"/>
            <a:ext cx="1691640" cy="1024128"/>
          </a:xfrm>
          <a:prstGeom prst="rect">
            <a:avLst/>
          </a:prstGeom>
          <a:solidFill>
            <a:srgbClr val="6A8A52"/>
          </a:solidFill>
          <a:ln>
            <a:solidFill>
              <a:srgbClr val="6A8A5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 Apply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服务端结算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2242109" cy="338328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结算阶段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167482" y="3246120"/>
            <a:ext cx="7977226" cy="338328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914400" y="3595421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命中采样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167482" y="3595421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每帧记录武器 Socket 上一帧和当前帧位置，使用 Sweep Trace 避免高速穿透。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4400" y="3944722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目标过滤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167482" y="3944722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排除自身、友方、已死亡目标；同一 HitToken 对同一目标只生效一次。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14400" y="4294022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伤害公式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167482" y="4294022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FinalDamage = BaseDamage × Coefficient × DefenseModifier × ElementModifier。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4643323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硬直/韧性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167482" y="4643323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PoiseDamage 累积超过阈值时添加 State.Staggered 标签。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280160" y="544068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测试断言：一次旋转攻击命中同一敌人 3 次 Trace，也只能触发 1 次伤害事件。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Animation、GAS 与 GameplayTag 协作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状态协同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状态标签分层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1572768"/>
            <a:ext cx="2743200" cy="292608"/>
          </a:xfrm>
          <a:prstGeom prst="rect">
            <a:avLst/>
          </a:prstGeom>
          <a:solidFill>
            <a:srgbClr val="182425"/>
          </a:solidFill>
          <a:ln>
            <a:solidFill>
              <a:srgbClr val="18242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State.Attacking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794760" y="1572768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攻击中：限制移动与切换武器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185416"/>
            <a:ext cx="2743200" cy="292608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State.Invincible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794760" y="2185416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无敌帧：闪避窗口内屏蔽伤害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2798064"/>
            <a:ext cx="2743200" cy="292608"/>
          </a:xfrm>
          <a:prstGeom prst="rect">
            <a:avLst/>
          </a:prstGeom>
          <a:solidFill>
            <a:srgbClr val="A8453A"/>
          </a:solidFill>
          <a:ln>
            <a:solidFill>
              <a:srgbClr val="A8453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State.Stunned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794760" y="2798064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硬直：阻止释放主动技能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410712"/>
            <a:ext cx="2743200" cy="292608"/>
          </a:xfrm>
          <a:prstGeom prst="rect">
            <a:avLst/>
          </a:prstGeom>
          <a:solidFill>
            <a:srgbClr val="6A8A52"/>
          </a:solidFill>
          <a:ln>
            <a:solidFill>
              <a:srgbClr val="6A8A52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Event.HitConfirm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794760" y="3410712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命中确认：触发震屏、音效、特效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4023360"/>
            <a:ext cx="2743200" cy="292608"/>
          </a:xfrm>
          <a:prstGeom prst="rect">
            <a:avLst/>
          </a:prstGeom>
          <a:solidFill>
            <a:srgbClr val="6B5B95"/>
          </a:solidFill>
          <a:ln>
            <a:solidFill>
              <a:srgbClr val="6B5B9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Cooldown.Skill.HeavySlash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794760" y="4023360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重斩技能冷却中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736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48840" y="4700016"/>
            <a:ext cx="891540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Ability 激活时添加 State.Attacking，结束时移除。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Montage Notify 只发送窗口事件，不直接写伤害逻辑。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GameplayCue 负责播放命中特效、音效、镜头震动，便于替换表现。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敌人 AI 战斗行为设计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Behavior Tree / EQS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828800"/>
            <a:ext cx="11887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828800"/>
            <a:ext cx="11887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1828800"/>
            <a:ext cx="11887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1600200" cy="960120"/>
          </a:xfrm>
          <a:prstGeom prst="rect">
            <a:avLst/>
          </a:prstGeom>
          <a:solidFill>
            <a:srgbClr val="3A6EA5"/>
          </a:solidFill>
          <a:ln>
            <a:solidFill>
              <a:srgbClr val="3A6EA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感知目标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AIPerception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1600200" cy="960120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选择战术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BT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1325880"/>
            <a:ext cx="1600200" cy="96012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定位站位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EQS Query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1325880"/>
            <a:ext cx="1600200" cy="960120"/>
          </a:xfrm>
          <a:prstGeom prst="rect">
            <a:avLst/>
          </a:prstGeom>
          <a:solidFill>
            <a:srgbClr val="C55A2F"/>
          </a:solidFill>
          <a:ln>
            <a:solidFill>
              <a:srgbClr val="C55A2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释放行为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1890065" cy="329184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状态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723998" y="2971800"/>
            <a:ext cx="3368650" cy="329184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进入条件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103620" y="2971800"/>
            <a:ext cx="5269687" cy="329184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行为策略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22960" y="3311957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Chase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723998" y="3311957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 &gt; 600 且目标可见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103620" y="3311957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追击并保持路径更新，禁止频繁转向抖动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22960" y="3652114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Strafe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723998" y="3652114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 250~600 且等待攻击窗口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103620" y="3652114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侧移寻找角度，使用 EQS 选择安全位置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22960" y="3992270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723998" y="3992270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 &lt; 250 且冷却结束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103620" y="3992270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根据权重选择轻击、重击、突进或投技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22960" y="4332427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723998" y="4332427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处于 State.Stunned 或低韧性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103620" y="4332427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后撤、格挡或等待硬直结束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05840" y="5303520"/>
            <a:ext cx="10104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不直接修改玩家状态；所有对玩家造成影响的行为必须通过 Ability + DamageSpec 进入统一结算链路。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联机同步与预测策略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同步分层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521208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客户端预测：输入、移动、前摇表现可先播放，减少手感延迟。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服务端权威：伤害、硬直、死亡、掉落等结果必须由服务端确认。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回滚修正：客户端预测失败时回退战斗状态，并播放轻量纠正表现。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带宽控制：只同步必要 GameplayTag、AbilitySpecHandle、HitContext 摘要。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6446520" y="1417320"/>
            <a:ext cx="1669237" cy="34747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26730" y="1417320"/>
            <a:ext cx="3109417" cy="34747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同步策略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446520" y="1775765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输入意图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126730" y="1775765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客户端上报，服务端校验时间戳与状态合法性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446520" y="2134210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动画表现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126730" y="2134210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可预测播放，必要时由服务端 Multicast 修正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446520" y="2492654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伤害结果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126730" y="2492654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仅服务端产生，客户端只接收结果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446520" y="2851099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GameplayTag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126730" y="2851099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关键状态同步，临时视觉标签本地处理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延迟测试场景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10287000" cy="749808"/>
          </a:xfrm>
          <a:prstGeom prst="rect">
            <a:avLst/>
          </a:prstGeom>
          <a:solidFill>
            <a:srgbClr val="EFE6D5"/>
          </a:solidFill>
          <a:ln>
            <a:solidFill>
              <a:srgbClr val="D8CF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PktLag=80 / 150 / 250，PacketLoss=1% / 3%。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关注：技能取消是否错乱、死亡是否重复触发、受击动画是否与伤害结果一致。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性能预算与测试指标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 Budget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单角色单帧预算（ms）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输入处理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1655064"/>
            <a:ext cx="320040" cy="201168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6276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130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Ability执行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2157984"/>
            <a:ext cx="1280160" cy="201168"/>
          </a:xfrm>
          <a:prstGeom prst="rect">
            <a:avLst/>
          </a:prstGeom>
          <a:solidFill>
            <a:srgbClr val="2C6E73"/>
          </a:solidFill>
          <a:ln w="12700">
            <a:solidFill>
              <a:srgbClr val="2C6E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305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Trace采样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2660904"/>
            <a:ext cx="2240280" cy="201168"/>
          </a:xfrm>
          <a:prstGeom prst="rect">
            <a:avLst/>
          </a:prstGeom>
          <a:solidFill>
            <a:srgbClr val="A8453A"/>
          </a:solidFill>
          <a:ln w="12700">
            <a:solidFill>
              <a:srgbClr val="A84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633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136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伤害结算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3163824"/>
            <a:ext cx="960120" cy="201168"/>
          </a:xfrm>
          <a:prstGeom prst="rect">
            <a:avLst/>
          </a:prstGeom>
          <a:solidFill>
            <a:srgbClr val="6A8A52"/>
          </a:solidFill>
          <a:ln w="12700">
            <a:solidFill>
              <a:srgbClr val="6A8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136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639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3666744"/>
            <a:ext cx="3200400" cy="201168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6393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65960" y="4251960"/>
            <a:ext cx="388620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3708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                 0.3                 0.6 ms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性能规则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56248" y="1600200"/>
            <a:ext cx="484632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仅在攻击窗口开启期间执行，禁止永久 Tick 检测。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近战武器优先使用少量 Socket Sweep，而不是复杂网格碰撞。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决策降频：普通敌人 5~10Hz，Boss 关键阶段可临时提高。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GameplayCue 做对象池化，避免高频 Spawn/Destroy。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6537960" y="3931920"/>
            <a:ext cx="1481328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030261" y="3931920"/>
            <a:ext cx="3160166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537960" y="4253789"/>
            <a:ext cx="1481328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FPS 场景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030261" y="4253789"/>
            <a:ext cx="3160166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名敌人同时攻击时 Game Thread 稳定低于 16.6ms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537960" y="4575658"/>
            <a:ext cx="1481328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命中日志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030261" y="4575658"/>
            <a:ext cx="3160166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 模式下保留最近 200 条 HitContext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537960" y="4897526"/>
            <a:ext cx="1481328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内存峰值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030261" y="4897526"/>
            <a:ext cx="3160166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技能连续释放 5 分钟不出现 GameplayCue 泄露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风险、迭代计划与验收用例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43000"/>
            <a:ext cx="1939442" cy="365760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636215" y="1143000"/>
            <a:ext cx="5081778" cy="365760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28966" y="1143000"/>
            <a:ext cx="3781501" cy="365760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85800" y="1519733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原型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636215" y="1519733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轻击、受击、闪避、伤害结算闭环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728966" y="1519733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动画与逻辑耦合过重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85800" y="1896466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数据化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636215" y="1896466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武器/技能 DataAsset 化，连招表可配置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728966" y="1896466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配置字段无校验导致线上错误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85800" y="2273198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联机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636215" y="2273198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预测、服务端权威、延迟模拟测试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728966" y="2273198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状态回滚导致表现跳变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85800" y="2649931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打磨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636215" y="2649931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 行为、处决、镜头反馈、性能优化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728966" y="2649931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表现资源过多导致加载峰值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8580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推荐验收用例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68680" y="4096512"/>
            <a:ext cx="103327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UC-001：玩家三段轻击连招，第二段提前输入，第三段在窗口内触发。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UC-002：旋转攻击命中同一敌人多帧 Trace，只结算一次伤害。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UC-003：敌人在 State.Stunned 下不能释放 Attack Ability。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UC-004：150ms 延迟下，客户端预测播放与服务端伤害结果最终一致。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UC-005：切换武器后，WeaponProfile 与 ComboChain 正确刷新。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868680" y="56692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检索建议问题：UE5 战斗系统为什么不应该在 Tick 中持续做全量碰撞扫描？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RAG Knowledge Base 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UE5战斗系统设计方案_测试用PPT</dc:title>
  <dc:subject>UE5引擎实现战斗系统的设计方案</dc:subject>
  <dc:creator>OpenAI</dc:creator>
  <cp:lastModifiedBy>OpenAI</cp:lastModifiedBy>
  <cp:revision>1</cp:revision>
  <dcterms:created xsi:type="dcterms:W3CDTF">2026-07-15T14:25:00Z</dcterms:created>
  <dcterms:modified xsi:type="dcterms:W3CDTF">2026-07-15T14:25:00Z</dcterms:modified>
</cp:coreProperties>
</file>